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BECD0-36D6-45F8-AAFB-1C1B1D6B3FAD}" v="1" dt="2026-10-18T16:28:22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Castilla" userId="98d5a3f853f8ac1c" providerId="LiveId" clId="{93E963AB-C624-43D6-A0F4-E3BBE300819E}"/>
    <pc:docChg chg="undo redo custSel addSld modSld">
      <pc:chgData name="William Castilla" userId="98d5a3f853f8ac1c" providerId="LiveId" clId="{93E963AB-C624-43D6-A0F4-E3BBE300819E}" dt="2026-10-18T16:28:43.037" v="2237" actId="122"/>
      <pc:docMkLst>
        <pc:docMk/>
      </pc:docMkLst>
      <pc:sldChg chg="addSp modSp mod">
        <pc:chgData name="William Castilla" userId="98d5a3f853f8ac1c" providerId="LiveId" clId="{93E963AB-C624-43D6-A0F4-E3BBE300819E}" dt="2026-10-18T16:28:43.037" v="2237" actId="122"/>
        <pc:sldMkLst>
          <pc:docMk/>
          <pc:sldMk cId="1169166594" sldId="256"/>
        </pc:sldMkLst>
        <pc:spChg chg="mod">
          <ac:chgData name="William Castilla" userId="98d5a3f853f8ac1c" providerId="LiveId" clId="{93E963AB-C624-43D6-A0F4-E3BBE300819E}" dt="2026-10-18T16:28:05.052" v="2202" actId="20577"/>
          <ac:spMkLst>
            <pc:docMk/>
            <pc:sldMk cId="1169166594" sldId="256"/>
            <ac:spMk id="3" creationId="{651CEFAB-EA1C-84BB-51F5-7A77B1ECA09D}"/>
          </ac:spMkLst>
        </pc:spChg>
        <pc:spChg chg="add mod">
          <ac:chgData name="William Castilla" userId="98d5a3f853f8ac1c" providerId="LiveId" clId="{93E963AB-C624-43D6-A0F4-E3BBE300819E}" dt="2026-10-18T16:28:43.037" v="2237" actId="122"/>
          <ac:spMkLst>
            <pc:docMk/>
            <pc:sldMk cId="1169166594" sldId="256"/>
            <ac:spMk id="4" creationId="{F9D07353-7118-FDBD-CA35-B849A53F4D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F2F3-969D-BFE6-D211-C54577448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5FDFC-5573-E333-8C81-09785F3F0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19172-0387-F5E1-887D-CBED5BDE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E7D68-CCB9-3F08-95EA-2A31633D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6FBD0-B736-F069-16B3-FE71EF9E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4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E386-F9B4-3233-FB48-40806FDC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4969E-94D4-F741-A546-D0AC9EE4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A024-FD29-FF03-7A32-51E3037F1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8DB61-995B-6119-1E0D-531439B1B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C8365-C93C-6AF4-8112-D76AC8FB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35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94F1-BB0A-364F-C38A-987839543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AF9F1-C607-1E00-E948-808A536EE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21917-C488-F0FA-4112-F82DC7272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3C24-36A1-CB0B-3C34-54EC1603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D064D-65A4-37E4-5EE7-CD651C557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820CE-D348-CC43-5324-A4CD77AA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EC6D7-ACDF-C82B-4580-3E63045DE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22503-25FF-3382-BF79-303BAD1A3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5C2F1-058A-6186-4394-7FCCD517A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B5A2E-33B9-3DF2-DB09-EA2842197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19068-A3C0-9DEE-8C0F-210D60EC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9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14D4E-F51C-BC7C-BB73-6F2E10187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B899A-3723-FD17-CB8B-8C1D46397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70527-BBE5-669B-D72A-64A64752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261AE-3331-D639-71AF-0382DF90A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75875-7379-EAD7-B2DC-EC6D35FA7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5EE7A-AB46-0D2D-36F2-01E0F54C1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CE7F1-624F-9DA2-1EF7-6B145D04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89139-D45D-AEF0-B563-20A0821D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1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1B92-E94F-B4A1-72A8-B0539D5D4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E2899-A906-D03D-5197-EADDAF078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B57B5-8450-AEF5-D53E-77BBD53B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ADC4A-4920-190B-1B3D-236BD6706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3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4FA2B-443F-83A7-4A88-C8970C21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CD0798-8A0E-589B-D492-72177009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AE56C-D064-26BF-167D-4993E8DA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9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81D1F-C8F4-D2EF-2056-1018D8AE9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B5E9B-1BA9-C1E1-AFFB-A046EAE1C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D3F37-68A1-76E6-1287-E1445617B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F66F5-38BE-BD3C-F305-DE6A3ED0B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EAA2E-C842-E6B3-81D4-E27D6E7C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6556D-9E0A-CB6F-C497-BA3D0DC84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80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D901-23F4-7F45-B61C-3616367C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84504B-7430-3F9C-75D1-46299460A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828D4-E2FE-9A43-7C30-47569E388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224F7-F666-7CD3-2A4E-238766770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FD68E-CC1E-8594-E127-3CDBC6D3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800C4-34AA-362A-A26A-0FE2D21B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25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3876D-82F7-B886-53A7-CE1DDC73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FDB57-B831-9D05-F062-BA526CD94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4F30C-F389-3406-E970-72DE4888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2ACBD-F11F-3440-7F99-CA2B26CC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99C65-03BB-4DD3-5526-7AB18A1A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5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A6854A-75FE-E6A2-01B1-7541F6831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23470-D1AF-393A-192D-9D180B42B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FC687-A1AA-246F-C47A-7EDE5DB1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DE101-547B-1070-A046-15A95071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8C720-1E2F-B553-7590-DFEDF49A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8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6EACE-3C2D-798D-0061-B8075ED9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44F44-0563-7B7B-78BA-AABCE766B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BD22E-AE3B-81EE-6675-27858AA29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1AE26-DE8E-4BC0-A836-6241615093D0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EE61-79B0-1937-90C4-549193D5A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E336C-D09F-36E5-E8B7-895644F76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A1E6F-CBE0-4100-8661-B31225AE7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9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9AD3-7F1F-9A72-51B1-8AE89D482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0353"/>
            <a:ext cx="9144000" cy="1361847"/>
          </a:xfrm>
        </p:spPr>
        <p:txBody>
          <a:bodyPr>
            <a:noAutofit/>
          </a:bodyPr>
          <a:lstStyle/>
          <a:p>
            <a:r>
              <a:rPr lang="en-US" sz="5200" dirty="0"/>
              <a:t>Tourism Customer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CEFAB-EA1C-84BB-51F5-7A77B1ECA0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2800" dirty="0"/>
              <a:t>Key Findings and Recommendations</a:t>
            </a:r>
            <a:endParaRPr lang="en-US" sz="11200" dirty="0"/>
          </a:p>
          <a:p>
            <a:endParaRPr lang="en-US" dirty="0"/>
          </a:p>
          <a:p>
            <a:r>
              <a:rPr lang="en-US" sz="11200" dirty="0"/>
              <a:t>Data In Motion Travel Analytics</a:t>
            </a:r>
          </a:p>
          <a:p>
            <a:r>
              <a:rPr lang="en-US" sz="11200" dirty="0"/>
              <a:t>Tableau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D07353-7118-FDBD-CA35-B849A53F4DC0}"/>
              </a:ext>
            </a:extLst>
          </p:cNvPr>
          <p:cNvSpPr txBox="1"/>
          <p:nvPr/>
        </p:nvSpPr>
        <p:spPr>
          <a:xfrm>
            <a:off x="3254829" y="5344886"/>
            <a:ext cx="584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Presented by: William Castilla</a:t>
            </a:r>
          </a:p>
        </p:txBody>
      </p:sp>
    </p:spTree>
    <p:extLst>
      <p:ext uri="{BB962C8B-B14F-4D97-AF65-F5344CB8AC3E}">
        <p14:creationId xmlns:p14="http://schemas.microsoft.com/office/powerpoint/2010/main" val="1169166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22E55-ACFA-B9F7-069B-B47B19C8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Executive Summary: </a:t>
            </a:r>
            <a:r>
              <a:rPr lang="en-US" sz="3100" dirty="0"/>
              <a:t>Customer purchase performance is influenced by contact type, city tier, pitch satisfaction, occupation, and product type.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E353A-47EF-E060-31E3-875B06CC3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Company-invited customers have a higher conversion rate than self-enquiry customers.</a:t>
            </a:r>
          </a:p>
          <a:p>
            <a:endParaRPr lang="en-US" dirty="0"/>
          </a:p>
          <a:p>
            <a:r>
              <a:rPr lang="en-US" dirty="0"/>
              <a:t>Product sales are concentrated primarily in Tier 1 and Tier 3 cities.</a:t>
            </a:r>
          </a:p>
          <a:p>
            <a:endParaRPr lang="en-US" dirty="0"/>
          </a:p>
          <a:p>
            <a:r>
              <a:rPr lang="en-US" dirty="0"/>
              <a:t>Higher pitch satisfaction is generally associated with stronger product purchase rates. </a:t>
            </a:r>
          </a:p>
          <a:p>
            <a:endParaRPr lang="en-US" dirty="0"/>
          </a:p>
          <a:p>
            <a:r>
              <a:rPr lang="en-US" dirty="0"/>
              <a:t>Product purchases are heavily concentrated in the Basic product category, while total monthly income varies substantially across occupations.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600" dirty="0">
                <a:solidFill>
                  <a:srgbClr val="FF0000"/>
                </a:solidFill>
              </a:rPr>
              <a:t>Key Metrics: 18.8% Overall Conversion Rate | 920 Products Taken | 4,888 Total Customers | $23,620 Average Monthly Income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45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6A90-ACBF-400E-C746-FA1F5687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Company-Invited Customers  Have a Higher Conversion Rate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5D5D9-53C8-5E06-22B1-CF9571B846EF}"/>
              </a:ext>
            </a:extLst>
          </p:cNvPr>
          <p:cNvSpPr txBox="1"/>
          <p:nvPr/>
        </p:nvSpPr>
        <p:spPr>
          <a:xfrm>
            <a:off x="838200" y="5834743"/>
            <a:ext cx="11038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Company-Invited customers have a higher conversion rate at 21.8%, compared with 17.6% for self-enquiry customers.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7172CC1-D2E2-821F-5AF1-F30BFEF07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5577" y="1194253"/>
            <a:ext cx="8911620" cy="464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CC84-F17A-E0C7-53FD-15DAE4B78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Rates Vary By City Tier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FEDA7-FFBC-5AA2-15FA-30C2B14C99DC}"/>
              </a:ext>
            </a:extLst>
          </p:cNvPr>
          <p:cNvSpPr txBox="1"/>
          <p:nvPr/>
        </p:nvSpPr>
        <p:spPr>
          <a:xfrm>
            <a:off x="957944" y="5657671"/>
            <a:ext cx="10831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Tier 3 has the highest conversion rate at 23.6%, followed closely by Tier 2 at 23.2%. Tier 1 has the lowest conversion rate at 16.3%, despite generating the most product purchases.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C1E645-7D17-E64C-29AD-7FFC3A704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9914" y="1306333"/>
            <a:ext cx="83121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937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E112-CDE5-894A-94CA-2CA6E2AE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Pitch Satisfaction Is Associated With Higher Conversion Rates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F3337-511D-7DDF-E82C-973265F7AC5E}"/>
              </a:ext>
            </a:extLst>
          </p:cNvPr>
          <p:cNvSpPr txBox="1"/>
          <p:nvPr/>
        </p:nvSpPr>
        <p:spPr>
          <a:xfrm>
            <a:off x="2057400" y="6176963"/>
            <a:ext cx="8991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FF0000"/>
                </a:solidFill>
              </a:rPr>
              <a:t>Higher pitch satisfaction is generally associated with higher conversion rates, increasing from 15% at satisfaction levels 1-2 to 21% at level 3 and reaching 22% at level 5.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55012D-C0CB-DA4D-E375-A0B5952B86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1668" y="1690688"/>
            <a:ext cx="8468664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969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5ED5-C30E-6C62-A7E8-AD2C650D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Conversion Rate Varies By Occupation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5D132-84EC-9BE5-C869-FF3B1C749CF3}"/>
              </a:ext>
            </a:extLst>
          </p:cNvPr>
          <p:cNvSpPr txBox="1"/>
          <p:nvPr/>
        </p:nvSpPr>
        <p:spPr>
          <a:xfrm>
            <a:off x="1121229" y="5867400"/>
            <a:ext cx="91004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Conversion rates vary by occupation, with Large Business customers having the highest rate among larger customer groups at 27.6%, followed by Small Business at 18.4%, and Salaried at 17.5%.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87E5CFF-00A3-AE09-33A5-56755629A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200" y="1458685"/>
            <a:ext cx="8425600" cy="431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46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FC1E-95A4-634C-9238-1DCF785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Rate is Highest Among $10K Income Customers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EE5E7C-2BE2-3190-E5B7-700D2E1DBD51}"/>
              </a:ext>
            </a:extLst>
          </p:cNvPr>
          <p:cNvSpPr txBox="1"/>
          <p:nvPr/>
        </p:nvSpPr>
        <p:spPr>
          <a:xfrm>
            <a:off x="1931221" y="6030687"/>
            <a:ext cx="9144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rgbClr val="FF0000"/>
                </a:solidFill>
              </a:rPr>
              <a:t>Customers in the $10K income group have the highest conversion rate at 27.4%, compared with 18.0% for $20K and 10.2% for $30K. Conversion rates decline as income increases. 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6EFB0669-1BAD-4105-5A15-F1595CEB6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1221" y="1548720"/>
            <a:ext cx="83674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2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36E6F-21D9-484B-8648-579C30C6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Basic Product Has the highest Conversion Rate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CEF14-A2C6-74D9-E6A8-A33FA8359A58}"/>
              </a:ext>
            </a:extLst>
          </p:cNvPr>
          <p:cNvSpPr txBox="1"/>
          <p:nvPr/>
        </p:nvSpPr>
        <p:spPr>
          <a:xfrm>
            <a:off x="630936" y="2592044"/>
            <a:ext cx="3429000" cy="42110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The Basic product has the highest conversion rate at 62.5%, substantially exceeding Deluxe at 20.6% and Standard at 12.7%. King and Super Deluxe have much lower conversion rates of 2.3% and 1.9%, respectively.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4A4B9E-2886-A926-C8D6-972F8ECC8801}"/>
              </a:ext>
            </a:extLst>
          </p:cNvPr>
          <p:cNvSpPr txBox="1"/>
          <p:nvPr/>
        </p:nvSpPr>
        <p:spPr>
          <a:xfrm>
            <a:off x="4160520" y="6720840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0899EF-3C2F-7BBD-F9C1-FE3A65394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8373" y="1100931"/>
            <a:ext cx="8213725" cy="435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3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A5F2C-6729-6EBC-C84D-ECFE832D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Performance KPI Summary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645E5-38DE-26DC-FAAF-CBA342E77D11}"/>
              </a:ext>
            </a:extLst>
          </p:cNvPr>
          <p:cNvSpPr txBox="1"/>
          <p:nvPr/>
        </p:nvSpPr>
        <p:spPr>
          <a:xfrm>
            <a:off x="496918" y="2599509"/>
            <a:ext cx="5093062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dirty="0"/>
              <a:t>18.8%</a:t>
            </a:r>
            <a:r>
              <a:rPr lang="en-US" sz="2800" dirty="0"/>
              <a:t> -Overall Conversion Rate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8849A8D9-59D3-E6E3-49DA-37035C3559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9837433"/>
              </p:ext>
            </p:extLst>
          </p:nvPr>
        </p:nvGraphicFramePr>
        <p:xfrm>
          <a:off x="5911532" y="3496569"/>
          <a:ext cx="5150278" cy="168961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240245">
                  <a:extLst>
                    <a:ext uri="{9D8B030D-6E8A-4147-A177-3AD203B41FA5}">
                      <a16:colId xmlns:a16="http://schemas.microsoft.com/office/drawing/2014/main" val="1170149744"/>
                    </a:ext>
                  </a:extLst>
                </a:gridCol>
                <a:gridCol w="1021538">
                  <a:extLst>
                    <a:ext uri="{9D8B030D-6E8A-4147-A177-3AD203B41FA5}">
                      <a16:colId xmlns:a16="http://schemas.microsoft.com/office/drawing/2014/main" val="817833921"/>
                    </a:ext>
                  </a:extLst>
                </a:gridCol>
                <a:gridCol w="1436896">
                  <a:extLst>
                    <a:ext uri="{9D8B030D-6E8A-4147-A177-3AD203B41FA5}">
                      <a16:colId xmlns:a16="http://schemas.microsoft.com/office/drawing/2014/main" val="4144507021"/>
                    </a:ext>
                  </a:extLst>
                </a:gridCol>
                <a:gridCol w="1451599">
                  <a:extLst>
                    <a:ext uri="{9D8B030D-6E8A-4147-A177-3AD203B41FA5}">
                      <a16:colId xmlns:a16="http://schemas.microsoft.com/office/drawing/2014/main" val="1610745137"/>
                    </a:ext>
                  </a:extLst>
                </a:gridCol>
              </a:tblGrid>
              <a:tr h="624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920</a:t>
                      </a:r>
                    </a:p>
                  </a:txBody>
                  <a:tcPr marL="94314" marR="134735" marT="26947" marB="20210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3.7</a:t>
                      </a:r>
                    </a:p>
                  </a:txBody>
                  <a:tcPr marL="94314" marR="134735" marT="26947" marB="20210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4,888</a:t>
                      </a:r>
                    </a:p>
                  </a:txBody>
                  <a:tcPr marL="94314" marR="134735" marT="26947" marB="20210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0">
                          <a:solidFill>
                            <a:schemeClr val="tx1"/>
                          </a:solidFill>
                        </a:rPr>
                        <a:t>$23,620</a:t>
                      </a:r>
                    </a:p>
                  </a:txBody>
                  <a:tcPr marL="94314" marR="134735" marT="26947" marB="202102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482239"/>
                  </a:ext>
                </a:extLst>
              </a:tr>
              <a:tr h="10653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Total Products Taken</a:t>
                      </a:r>
                    </a:p>
                  </a:txBody>
                  <a:tcPr marL="94314" marR="134735" marT="26947" marB="202102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Avg. Follow-Ups</a:t>
                      </a:r>
                    </a:p>
                  </a:txBody>
                  <a:tcPr marL="94314" marR="134735" marT="26947" marB="2021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Total Customers</a:t>
                      </a:r>
                    </a:p>
                  </a:txBody>
                  <a:tcPr marL="94314" marR="134735" marT="26947" marB="2021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Avg. Monthly Income</a:t>
                      </a:r>
                    </a:p>
                  </a:txBody>
                  <a:tcPr marL="94314" marR="134735" marT="26947" marB="2021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50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447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85F6C-5FD7-8D11-917A-AAE5A7E4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037F4-FCD6-0796-F15F-7C9E0D6C5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 purchase behavior varies meaningfully by contact type, city tier, pitch satisfaction, occupation, and product type.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Recommendations Based on the Analysis</a:t>
            </a:r>
          </a:p>
          <a:p>
            <a:r>
              <a:rPr lang="en-US" dirty="0"/>
              <a:t>Improve pitch quality by focusing on satisfaction levels associated with higher purchase rates of 21%-22%.</a:t>
            </a:r>
          </a:p>
          <a:p>
            <a:r>
              <a:rPr lang="en-US" dirty="0"/>
              <a:t>Prioritize the Basic product category while exploring opportunities to improve demand for lower-performing products.</a:t>
            </a:r>
          </a:p>
          <a:p>
            <a:r>
              <a:rPr lang="en-US" dirty="0"/>
              <a:t>Use occupation and income insights to better target customer segments with stronger </a:t>
            </a:r>
            <a:r>
              <a:rPr lang="en-US"/>
              <a:t>conversion potential.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98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4752</TotalTime>
  <Words>464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Tourism Customer Sales Analysis</vt:lpstr>
      <vt:lpstr>Executive Summary: Customer purchase performance is influenced by contact type, city tier, pitch satisfaction, occupation, and product type.</vt:lpstr>
      <vt:lpstr>Company-Invited Customers  Have a Higher Conversion Rate </vt:lpstr>
      <vt:lpstr>Conversion Rates Vary By City Tier</vt:lpstr>
      <vt:lpstr>Higher Pitch Satisfaction Is Associated With Higher Conversion Rates</vt:lpstr>
      <vt:lpstr>Conversion Rate Varies By Occupation</vt:lpstr>
      <vt:lpstr>Conversion Rate is Highest Among $10K Income Customers</vt:lpstr>
      <vt:lpstr>Basic Product Has the highest Conversion Rate</vt:lpstr>
      <vt:lpstr>Overall Performance KPI Summary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Castilla</dc:creator>
  <cp:lastModifiedBy>William Castilla</cp:lastModifiedBy>
  <cp:revision>3</cp:revision>
  <dcterms:created xsi:type="dcterms:W3CDTF">2026-08-21T20:39:09Z</dcterms:created>
  <dcterms:modified xsi:type="dcterms:W3CDTF">2026-10-18T16:28:48Z</dcterms:modified>
</cp:coreProperties>
</file>